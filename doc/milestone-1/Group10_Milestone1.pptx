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Old Standard TT"/>
      <p:regular r:id="rId16"/>
      <p:bold r:id="rId17"/>
      <p: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38F6516-C0E4-42DE-AC02-AFDE51D2C083}">
  <a:tblStyle styleId="{538F6516-C0E4-42DE-AC02-AFDE51D2C08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OldStandardTT-bold.fntdata"/><Relationship Id="rId16" Type="http://schemas.openxmlformats.org/officeDocument/2006/relationships/font" Target="fonts/OldStandardTT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font" Target="fonts/OldStandardTT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035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90357f_0_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90357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c6f90357f_0_3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c6f90357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c47943ee1b_1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c47943ee1b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c47943ee1b_1_3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c47943ee1b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47943ee1b_1_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c47943ee1b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47943ee1b_1_39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c47943ee1b_1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c6f90357f_0_4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c6f90357f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c6f90357f_0_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c6f90357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893300"/>
            <a:ext cx="87321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Inference-Time Guardrails for Mitigating Prompt Jailbreak Attack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Milestone 1 Presentation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Team 10</a:t>
            </a:r>
            <a:endParaRPr/>
          </a:p>
        </p:txBody>
      </p:sp>
      <p:sp>
        <p:nvSpPr>
          <p:cNvPr id="61" name="Google Shape;61;p13"/>
          <p:cNvSpPr txBox="1"/>
          <p:nvPr>
            <p:ph type="ctrTitle"/>
          </p:nvPr>
        </p:nvSpPr>
        <p:spPr>
          <a:xfrm>
            <a:off x="352410" y="-114146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BSDA4001 : Data Science and AI Lab</a:t>
            </a:r>
            <a:endParaRPr sz="3200"/>
          </a:p>
        </p:txBody>
      </p:sp>
      <p:pic>
        <p:nvPicPr>
          <p:cNvPr id="62" name="Google Shape;6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7150" y="276200"/>
            <a:ext cx="1203425" cy="119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265500" y="1913897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 &amp; Problem</a:t>
            </a:r>
            <a:endParaRPr/>
          </a:p>
        </p:txBody>
      </p:sp>
      <p:sp>
        <p:nvSpPr>
          <p:cNvPr id="68" name="Google Shape;68;p14"/>
          <p:cNvSpPr txBox="1"/>
          <p:nvPr>
            <p:ph idx="2" type="body"/>
          </p:nvPr>
        </p:nvSpPr>
        <p:spPr>
          <a:xfrm>
            <a:off x="4790872" y="724200"/>
            <a:ext cx="43914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Background</a:t>
            </a:r>
            <a:endParaRPr b="1" sz="1500"/>
          </a:p>
          <a:p>
            <a:pPr indent="-323850" lvl="0" marL="457200" rtl="0" algn="l">
              <a:spcBef>
                <a:spcPts val="16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LLMs deployed in production systems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Vulnerable to prompt jailbreak attacks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RLHF and alignment insufficient under adversarial inputs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500"/>
              <a:t>Problem</a:t>
            </a:r>
            <a:endParaRPr b="1"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500"/>
              <a:t>Need a real-time, inference-time middleware that:</a:t>
            </a:r>
            <a:endParaRPr sz="1500"/>
          </a:p>
          <a:p>
            <a:pPr indent="-323850" lvl="0" marL="457200" rtl="0" algn="l">
              <a:spcBef>
                <a:spcPts val="16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Detects malicious prompts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Sanitizes suspicious inputs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Validate outputs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Preserves utility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Adds &lt; 300ms latency</a:t>
            </a:r>
            <a:br>
              <a:rPr lang="en" sz="1500"/>
            </a:br>
            <a:endParaRPr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Covered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Role-play jailbreaks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Instruction overrides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Prompt injection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4" name="Google Shape;74;p1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/>
              <a:t>Constraints</a:t>
            </a:r>
            <a:endParaRPr b="1"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Single-turn text only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Black-box Gemini API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No model retraining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Deletion-only rewriting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&lt; 300ms overhead</a:t>
            </a:r>
            <a:endParaRPr b="1" sz="1800"/>
          </a:p>
        </p:txBody>
      </p:sp>
      <p:sp>
        <p:nvSpPr>
          <p:cNvPr id="75" name="Google Shape;75;p1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Scope &amp; Constraints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Gap in Existing Solutions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1" name="Google Shape;81;p16"/>
          <p:cNvGraphicFramePr/>
          <p:nvPr/>
        </p:nvGraphicFramePr>
        <p:xfrm>
          <a:off x="2278600" y="1278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{538F6516-C0E4-42DE-AC02-AFDE51D2C083}</a:tableStyleId>
              </a:tblPr>
              <a:tblGrid>
                <a:gridCol w="2942550"/>
                <a:gridCol w="27714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ld Standard TT"/>
                          <a:ea typeface="Old Standard TT"/>
                          <a:cs typeface="Old Standard TT"/>
                          <a:sym typeface="Old Standard TT"/>
                        </a:rPr>
                        <a:t>Approach</a:t>
                      </a:r>
                      <a:endParaRPr b="1">
                        <a:latin typeface="Old Standard TT"/>
                        <a:ea typeface="Old Standard TT"/>
                        <a:cs typeface="Old Standard TT"/>
                        <a:sym typeface="Old Standard T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ld Standard TT"/>
                          <a:ea typeface="Old Standard TT"/>
                          <a:cs typeface="Old Standard TT"/>
                          <a:sym typeface="Old Standard TT"/>
                        </a:rPr>
                        <a:t>Limitation</a:t>
                      </a:r>
                      <a:endParaRPr b="1">
                        <a:latin typeface="Old Standard TT"/>
                        <a:ea typeface="Old Standard TT"/>
                        <a:cs typeface="Old Standard TT"/>
                        <a:sym typeface="Old Standard T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Old Standard TT"/>
                          <a:ea typeface="Old Standard TT"/>
                          <a:cs typeface="Old Standard TT"/>
                          <a:sym typeface="Old Standard TT"/>
                        </a:rPr>
                        <a:t>RLHF / Alignment</a:t>
                      </a:r>
                      <a:endParaRPr sz="1700">
                        <a:latin typeface="Old Standard TT"/>
                        <a:ea typeface="Old Standard TT"/>
                        <a:cs typeface="Old Standard TT"/>
                        <a:sym typeface="Old Standard T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Old Standard TT"/>
                          <a:ea typeface="Old Standard TT"/>
                          <a:cs typeface="Old Standard TT"/>
                          <a:sym typeface="Old Standard TT"/>
                        </a:rPr>
                        <a:t>Jailbreakable</a:t>
                      </a:r>
                      <a:endParaRPr sz="1700">
                        <a:latin typeface="Old Standard TT"/>
                        <a:ea typeface="Old Standard TT"/>
                        <a:cs typeface="Old Standard TT"/>
                        <a:sym typeface="Old Standard T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Old Standard TT"/>
                          <a:ea typeface="Old Standard TT"/>
                          <a:cs typeface="Old Standard TT"/>
                          <a:sym typeface="Old Standard TT"/>
                        </a:rPr>
                        <a:t>Keyword Filters</a:t>
                      </a:r>
                      <a:endParaRPr sz="1700">
                        <a:latin typeface="Old Standard TT"/>
                        <a:ea typeface="Old Standard TT"/>
                        <a:cs typeface="Old Standard TT"/>
                        <a:sym typeface="Old Standard T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Old Standard TT"/>
                          <a:ea typeface="Old Standard TT"/>
                          <a:cs typeface="Old Standard TT"/>
                          <a:sym typeface="Old Standard TT"/>
                        </a:rPr>
                        <a:t>High FRR, easy bypass</a:t>
                      </a:r>
                      <a:endParaRPr sz="1700">
                        <a:latin typeface="Old Standard TT"/>
                        <a:ea typeface="Old Standard TT"/>
                        <a:cs typeface="Old Standard TT"/>
                        <a:sym typeface="Old Standard T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Old Standard TT"/>
                          <a:ea typeface="Old Standard TT"/>
                          <a:cs typeface="Old Standard TT"/>
                          <a:sym typeface="Old Standard TT"/>
                        </a:rPr>
                        <a:t>System Prompt Hardening</a:t>
                      </a:r>
                      <a:endParaRPr sz="1700">
                        <a:latin typeface="Old Standard TT"/>
                        <a:ea typeface="Old Standard TT"/>
                        <a:cs typeface="Old Standard TT"/>
                        <a:sym typeface="Old Standard T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Old Standard TT"/>
                          <a:ea typeface="Old Standard TT"/>
                          <a:cs typeface="Old Standard TT"/>
                          <a:sym typeface="Old Standard TT"/>
                        </a:rPr>
                        <a:t>Override attacks succeed</a:t>
                      </a:r>
                      <a:endParaRPr sz="1700">
                        <a:latin typeface="Old Standard TT"/>
                        <a:ea typeface="Old Standard TT"/>
                        <a:cs typeface="Old Standard TT"/>
                        <a:sym typeface="Old Standard T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Old Standard TT"/>
                          <a:ea typeface="Old Standard TT"/>
                          <a:cs typeface="Old Standard TT"/>
                          <a:sym typeface="Old Standard TT"/>
                        </a:rPr>
                        <a:t>LLM-as-a-Judge</a:t>
                      </a:r>
                      <a:endParaRPr sz="1700">
                        <a:latin typeface="Old Standard TT"/>
                        <a:ea typeface="Old Standard TT"/>
                        <a:cs typeface="Old Standard TT"/>
                        <a:sym typeface="Old Standard T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Old Standard TT"/>
                          <a:ea typeface="Old Standard TT"/>
                          <a:cs typeface="Old Standard TT"/>
                          <a:sym typeface="Old Standard TT"/>
                        </a:rPr>
                        <a:t>Too slow for production</a:t>
                      </a:r>
                      <a:endParaRPr sz="1700">
                        <a:latin typeface="Old Standard TT"/>
                        <a:ea typeface="Old Standard TT"/>
                        <a:cs typeface="Old Standard TT"/>
                        <a:sym typeface="Old Standard T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Old Standard TT"/>
                          <a:ea typeface="Old Standard TT"/>
                          <a:cs typeface="Old Standard TT"/>
                          <a:sym typeface="Old Standard TT"/>
                        </a:rPr>
                        <a:t>Input-only Classifiers</a:t>
                      </a:r>
                      <a:endParaRPr sz="1700">
                        <a:latin typeface="Old Standard TT"/>
                        <a:ea typeface="Old Standard TT"/>
                        <a:cs typeface="Old Standard TT"/>
                        <a:sym typeface="Old Standard T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Old Standard TT"/>
                          <a:ea typeface="Old Standard TT"/>
                          <a:cs typeface="Old Standard TT"/>
                          <a:sym typeface="Old Standard TT"/>
                        </a:rPr>
                        <a:t>No output validation</a:t>
                      </a:r>
                      <a:endParaRPr sz="1700">
                        <a:latin typeface="Old Standard TT"/>
                        <a:ea typeface="Old Standard TT"/>
                        <a:cs typeface="Old Standard TT"/>
                        <a:sym typeface="Old Standard T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2" name="Google Shape;82;p16"/>
          <p:cNvSpPr txBox="1"/>
          <p:nvPr/>
        </p:nvSpPr>
        <p:spPr>
          <a:xfrm>
            <a:off x="453395" y="4080642"/>
            <a:ext cx="8650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Old Standard TT"/>
                <a:ea typeface="Old Standard TT"/>
                <a:cs typeface="Old Standard TT"/>
                <a:sym typeface="Old Standard TT"/>
              </a:rPr>
              <a:t>Gap: </a:t>
            </a:r>
            <a:r>
              <a:rPr lang="en" sz="1700">
                <a:latin typeface="Old Standard TT"/>
                <a:ea typeface="Old Standard TT"/>
                <a:cs typeface="Old Standard TT"/>
                <a:sym typeface="Old Standard TT"/>
              </a:rPr>
              <a:t>No low-latency dual-layer safety middleware optimizing safety + utility + latency.</a:t>
            </a:r>
            <a:endParaRPr sz="17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265500" y="1913897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Proposed Solution</a:t>
            </a:r>
            <a:endParaRPr/>
          </a:p>
        </p:txBody>
      </p:sp>
      <p:sp>
        <p:nvSpPr>
          <p:cNvPr id="88" name="Google Shape;88;p17"/>
          <p:cNvSpPr txBox="1"/>
          <p:nvPr>
            <p:ph idx="2" type="body"/>
          </p:nvPr>
        </p:nvSpPr>
        <p:spPr>
          <a:xfrm>
            <a:off x="4790872" y="724200"/>
            <a:ext cx="43914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Dual-Layer Guardrail Middleware</a:t>
            </a:r>
            <a:endParaRPr b="1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Input Risk Classification (mDeBERTa-v3-base)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Constrained Deletion-Based Transformation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Gemini API (Black Box)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Output Validation (Keyword + Classifier)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/>
              <a:t>Defense-in-Depth Design</a:t>
            </a:r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Architecture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1" y="1136300"/>
            <a:ext cx="5837700" cy="36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User</a:t>
            </a:r>
            <a:r>
              <a:rPr b="1" lang="en" sz="1700"/>
              <a:t> → </a:t>
            </a:r>
            <a:r>
              <a:rPr b="1" lang="en" sz="1700"/>
              <a:t>Input Classifier </a:t>
            </a:r>
            <a:r>
              <a:rPr b="1" lang="en" sz="1700"/>
              <a:t>→</a:t>
            </a:r>
            <a:r>
              <a:rPr b="1" lang="en" sz="1700"/>
              <a:t>Allow / Transform / Block </a:t>
            </a:r>
            <a:endParaRPr b="1" sz="1700"/>
          </a:p>
          <a:p>
            <a:pPr indent="457200" lvl="0" marL="2743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700"/>
              <a:t>        		↓</a:t>
            </a:r>
            <a:endParaRPr b="1" sz="17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 sz="1700"/>
              <a:t>Return Safe Response </a:t>
            </a:r>
            <a:r>
              <a:rPr b="1" lang="en" sz="1700"/>
              <a:t>←Output Validation ← Gemini API </a:t>
            </a:r>
            <a:endParaRPr b="1" sz="1700"/>
          </a:p>
        </p:txBody>
      </p:sp>
      <p:pic>
        <p:nvPicPr>
          <p:cNvPr id="95" name="Google Shape;95;p18" title="mermaid-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9048" y="288688"/>
            <a:ext cx="3069928" cy="4546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265500" y="1913897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Framework</a:t>
            </a:r>
            <a:endParaRPr/>
          </a:p>
        </p:txBody>
      </p:sp>
      <p:sp>
        <p:nvSpPr>
          <p:cNvPr id="101" name="Google Shape;101;p19"/>
          <p:cNvSpPr txBox="1"/>
          <p:nvPr>
            <p:ph idx="2" type="body"/>
          </p:nvPr>
        </p:nvSpPr>
        <p:spPr>
          <a:xfrm>
            <a:off x="4728337" y="661665"/>
            <a:ext cx="43914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Benchmarks:</a:t>
            </a:r>
            <a:endParaRPr b="1" sz="15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JailbreakBench → Attack Success Rate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XSTest → False Refusal Rate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MT-Bench → Utility</a:t>
            </a:r>
            <a:br>
              <a:rPr lang="en" sz="1500"/>
            </a:b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Metrics:</a:t>
            </a:r>
            <a:endParaRPr b="1" sz="15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≥ 70% ASR reduction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&lt; 10% FRR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≥ 90% MT-Bench score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&lt; 300ms latency</a:t>
            </a:r>
            <a:endParaRPr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Expected Contribution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Production-ready safety middleware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Works with black-box APIs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Joint optimization of safety + utility + latency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Reduces jailbreak risk without degrading performance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/>
              <a:t>Bridges research and real-world deployment</a:t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