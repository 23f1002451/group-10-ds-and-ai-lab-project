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60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42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</a:rPr>
              <a:t>GROUP 10 · DATA SCIENCE AND AI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Milestone 2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</a:rPr>
              <a:t>Dataset Identification, Preparation &amp;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</a:rPr>
              <a:t>Structuring for Guardrail Evaluation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March 2026  ·  1,500 Prompts  ·  3 Classes  ·  mDeBERTa-v3-base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DATASET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</a:rPr>
              <a:t>Three dataset subsets designed to evaluate guardrail performance across distinct classification boundaries.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417320"/>
            <a:ext cx="2651760" cy="2011680"/>
          </a:xfrm>
          <a:prstGeom prst="rect">
            <a:avLst/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417320"/>
            <a:ext cx="2651760" cy="91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Benign Prompts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59669"/>
                </a:solidFill>
              </a:rPr>
              <a:t>670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44.66% of dataset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Normal user queries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for false-positive eval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417320"/>
            <a:ext cx="2651760" cy="201168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17320"/>
            <a:ext cx="265176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Jailbreak Attacks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97706"/>
                </a:solidFill>
              </a:rPr>
              <a:t>455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333756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30.33% of dataset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Adversarial bypass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prompts from benchmarks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651760" cy="201168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417320"/>
            <a:ext cx="26517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54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Harmful Intent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DC2626"/>
                </a:solidFill>
              </a:rPr>
              <a:t>375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217920" y="2514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25.00% of dataset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2834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Prohibited content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without jailbreak wrappers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11880"/>
            <a:ext cx="850392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Total: 1,500 prompts  ·  Attack-to-Benign Ratio: 1.24  ·  Sources: JailbreakBench, TrustAIRLab, LMSYS, SQuAD, Alpaca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DATA SOURCES &amp; COLLECTION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3244918"/>
              </p:ext>
            </p:extLst>
          </p:nvPr>
        </p:nvGraphicFramePr>
        <p:xfrm>
          <a:off x="365760" y="822960"/>
          <a:ext cx="694944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Class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License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Rajpurkar / SQuAD v2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Benign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281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CC-BY-SA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Yahma / Alpaca Cleaned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Benign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280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 err="1">
                          <a:solidFill>
                            <a:srgbClr val="1E293B"/>
                          </a:solidFill>
                        </a:rPr>
                        <a:t>TrustAIRLab</a:t>
                      </a: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 / In The Wild (Benign)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Benign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19372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JailbreakBench</a:t>
                      </a:r>
                      <a:r>
                        <a:rPr lang="en-IN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/ JBB </a:t>
                      </a:r>
                      <a:r>
                        <a:rPr lang="en-IN" sz="11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Behaviors</a:t>
                      </a:r>
                      <a:endParaRPr lang="en-US" sz="1100" b="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</a:rPr>
                        <a:t>Benign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/>
                        <a:t>7</a:t>
                      </a: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TrustAIRLab / In The Wild (Attacks)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Jailbreak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328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LMSYS / Toxic Chat (Jailbreak)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Jailbreak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CC-BY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Rubend18 / ChatGPT Jailbreak Prompts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Jailbreak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Open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LMSYS / Toxic Chat (Harmful)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Harmful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CC-BY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JailbreakBench / JBB Behaviors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</a:rPr>
                        <a:t>Harmful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100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DATA QUALITY &amp; PREPROCESSING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Text Normalization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Replaced \r, \n, \t with spaces. Collapsed whitespace. Removed prompts &lt; 8 or &gt; 2,500 chars.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Deduplication (SHA-256)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Generated a SHA-256 hash per lowercased prompt. Exact duplicates were discarded.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04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Schema Normalization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Mapped source fields (user_input, instruction, text) to unified prompt_text field.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974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004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Label Verification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Ground truth labels verified against source distributions. All records validated.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16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</a:rPr>
              <a:t>Synthetic Augmentation: ~91 prompts (~6%) generated via template bootstrapping and jailbreak paraphrasing to meet class quotas.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JAILBREAK TAXONOMY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Role-Play Attacks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19786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Model assumes a fictional/unrestricted persona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926080" y="941832"/>
            <a:ext cx="47548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26080" y="941832"/>
            <a:ext cx="2139696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8120" y="941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7C3AED"/>
                </a:solidFill>
              </a:rPr>
              <a:t>205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58200" y="987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prompts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16733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Instruction Overrides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0025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Directives to disregard core safety instructions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0" y="1746504"/>
            <a:ext cx="47548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26080" y="1746504"/>
            <a:ext cx="1283818" cy="3657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74650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C2626"/>
                </a:solidFill>
              </a:rPr>
              <a:t>124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58200" y="17922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prompts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478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Multi-Step Attacks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8072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Malicious payloads hidden in sequential logic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926080" y="2551176"/>
            <a:ext cx="47548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551176"/>
            <a:ext cx="855878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255117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7706"/>
                </a:solidFill>
              </a:rPr>
              <a:t>84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58200" y="259689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prompts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32826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Prompt Injection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Developer command injections targeting parse boundaries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926080" y="3355848"/>
            <a:ext cx="47548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26080" y="3355848"/>
            <a:ext cx="427939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35584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9488"/>
                </a:solidFill>
              </a:rPr>
              <a:t>41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458200" y="34015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prompts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65760" y="40873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Obfuscation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" y="441655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Encoded ciphers hiding directives (underrepresented)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926080" y="4160520"/>
            <a:ext cx="4754880" cy="36576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26080" y="4160520"/>
            <a:ext cx="137160" cy="3657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18120" y="41605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64748B"/>
                </a:solidFill>
              </a:rPr>
              <a:t>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58200" y="4206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prompts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</a:rPr>
              <a:t>Total jailbreak prompts: 455  ·  Note: Obfuscation is rare in the dataset due to limited availability in public textual benchmarks. 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SCHEMA, SPLITS &amp; LEAKAGE PREVENTION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Dataset Schema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9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prompt_id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2893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Unique SHA-256 identifier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73352"/>
            <a:ext cx="4114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prompt_text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72821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Cleaned, normalized user query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12264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671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1671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benign · jailbreak · harmful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551176"/>
            <a:ext cx="4114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attack_type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606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Taxonomy class (none for benign)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990088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449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expected_outcome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0449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allow / block (ground truth)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429000"/>
            <a:ext cx="411480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838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data_source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4838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Source repository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867912"/>
            <a:ext cx="411480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92277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split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39227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train / validation / test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Train / Val / Test Splits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23444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1234440"/>
            <a:ext cx="109728" cy="74980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1325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074920" y="16184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1,045 prompts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13990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</a:rPr>
              <a:t>70%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4846320" y="214884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2148840"/>
            <a:ext cx="10972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74920" y="2240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74920" y="2532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222 prompts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0" y="23134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</a:rPr>
              <a:t>15%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4846320" y="3063240"/>
            <a:ext cx="39319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46320" y="3063240"/>
            <a:ext cx="10972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3154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Test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74920" y="34472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233 prompts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3227832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C3AED"/>
                </a:solidFill>
              </a:rPr>
              <a:t>15%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4846320" y="4114800"/>
            <a:ext cx="393192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0" y="4187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</a:rPr>
              <a:t>Leakage Prevention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2920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766E"/>
                </a:solidFill>
              </a:rPr>
              <a:t>Family IDs group base + synthetic variants into the same split. Drift factor &lt; 0.014.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PROMPT LENGTH &amp; STRUCTURAL ANALYSIS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50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15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Min Length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046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60320" y="850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2,490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560320" y="1261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Max Length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8046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09160" y="850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464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709160" y="1261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Mean Length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66560" y="804672"/>
            <a:ext cx="196596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0" y="850392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</a:rPr>
              <a:t>92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858000" y="126187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Median Length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Mean vs Median Length by Class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2128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Benign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2212848"/>
            <a:ext cx="3657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28800" y="2212848"/>
            <a:ext cx="535496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</a:rPr>
              <a:t>Mean: 165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0" y="2532888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532888"/>
            <a:ext cx="188235" cy="201168"/>
          </a:xfrm>
          <a:prstGeom prst="rect">
            <a:avLst/>
          </a:prstGeom>
          <a:solidFill>
            <a:srgbClr val="059669">
              <a:alpha val="60000"/>
            </a:srgbClr>
          </a:solidFill>
          <a:ln w="12700">
            <a:solidFill>
              <a:srgbClr val="059669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77840" y="253288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Median: 58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054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Jailbreak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828800" y="3054096"/>
            <a:ext cx="3657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28800" y="3054096"/>
            <a:ext cx="365760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0" y="30540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</a:rPr>
              <a:t>Mean: 1127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0" y="3374136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28800" y="3374136"/>
            <a:ext cx="3599182" cy="201168"/>
          </a:xfrm>
          <a:prstGeom prst="rect">
            <a:avLst/>
          </a:prstGeom>
          <a:solidFill>
            <a:srgbClr val="D97706">
              <a:alpha val="60000"/>
            </a:srgbClr>
          </a:solidFill>
          <a:ln w="12700">
            <a:solidFill>
              <a:srgbClr val="D97706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77840" y="33741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Median: 1109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8953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Harmful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828800" y="3895344"/>
            <a:ext cx="365760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0" y="3895344"/>
            <a:ext cx="623123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8953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</a:rPr>
              <a:t>Mean: 192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828800" y="4215384"/>
            <a:ext cx="365760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828800" y="4215384"/>
            <a:ext cx="288843" cy="201168"/>
          </a:xfrm>
          <a:prstGeom prst="rect">
            <a:avLst/>
          </a:prstGeom>
          <a:solidFill>
            <a:srgbClr val="DC2626">
              <a:alpha val="60000"/>
            </a:srgbClr>
          </a:solidFill>
          <a:ln w="12700">
            <a:solidFill>
              <a:srgbClr val="DC2626">
                <a:alpha val="6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7840" y="42153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Median: 89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42017" y="184023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Syntactic Structure Distribution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42017" y="2251710"/>
            <a:ext cx="258644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42017" y="2251710"/>
            <a:ext cx="109728" cy="64008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3185" y="232486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Statements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543185" y="259918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899 prompts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955280" y="2350008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1B2A4A"/>
                </a:solidFill>
              </a:rPr>
              <a:t>59.9%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6342017" y="3001518"/>
            <a:ext cx="258644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42017" y="3001518"/>
            <a:ext cx="109728" cy="6400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43185" y="307467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Questions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543185" y="334899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381 prompts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955280" y="309981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D9488"/>
                </a:solidFill>
              </a:rPr>
              <a:t>25.4%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342017" y="3751326"/>
            <a:ext cx="2586446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42017" y="3751326"/>
            <a:ext cx="109728" cy="6400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43185" y="382447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</a:rPr>
              <a:t>Imperatives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43185" y="409879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220 prompts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955280" y="3849624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7C3AED"/>
                </a:solidFill>
              </a:rPr>
              <a:t>14.7%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470001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F766E"/>
                </a:solidFill>
              </a:rPr>
              <a:t>Key Insight: Jailbreak prompts are 6.8× longer than benign prompts. Prompt length is a strong detection signal.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TOPIC DISTRIBUTION, BIASES &amp; DATASET LIMITATIONS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Semantic Topic Distribution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1307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325880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1325880"/>
            <a:ext cx="2560320" cy="25603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43400" y="130759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</a:rPr>
              <a:t>1193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91640" y="1801368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1801368"/>
            <a:ext cx="276849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7830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129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5856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Education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691640" y="2276856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2276856"/>
            <a:ext cx="240365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2585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112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7340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Travel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691640" y="2752344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91640" y="2752344"/>
            <a:ext cx="109728" cy="2560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27340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19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3209544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Security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691640" y="3227832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91640" y="3227832"/>
            <a:ext cx="10972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43400" y="320954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97706"/>
                </a:solidFill>
              </a:rPr>
              <a:t>18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368503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Health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691640" y="3703320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91640" y="3703320"/>
            <a:ext cx="109728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3400" y="3685032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16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160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Science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691640" y="4178808"/>
            <a:ext cx="2560320" cy="2560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691640" y="4178808"/>
            <a:ext cx="109728" cy="2560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41605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13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8046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Known Biases &amp; Limitations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937760" y="1234440"/>
            <a:ext cx="38404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37760" y="1234440"/>
            <a:ext cx="10972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38928" y="1298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General Topic Dominance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863840" y="1307592"/>
            <a:ext cx="7772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0" y="13258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38928" y="160020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79.5% of prompts are General context. May reduce topic-specific detection accuracy for niche domains.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937760" y="2103120"/>
            <a:ext cx="384048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37760" y="2103120"/>
            <a:ext cx="109728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38928" y="21671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Obfuscation Underrepresented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863840" y="2176272"/>
            <a:ext cx="77724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63840" y="219456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High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138928" y="246888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Only 1 obfuscation prompt exists. Model may fail against cipher-based or encoded adversarial attacks.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37760" y="2971800"/>
            <a:ext cx="384048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37760" y="2971800"/>
            <a:ext cx="109728" cy="7772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38928" y="30358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Synthetic Augmentation ~6%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863840" y="3044952"/>
            <a:ext cx="777240" cy="219456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306324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Low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5138928" y="333756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~91 template-generated prompts may not perfectly replicate real attacker behavior or phrasing.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937760" y="3840480"/>
            <a:ext cx="3840480" cy="777240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37760" y="3840480"/>
            <a:ext cx="109728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38928" y="39044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Source Concentration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863840" y="3913632"/>
            <a:ext cx="77724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863840" y="393192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Medium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5138928" y="420624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TrustAIRLab accounts for 328 jailbreaks (72% of class). High dependency on a single source.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Reproducibility: Fixed seed=42 · Deterministic splits · SHA-256 deduplication · Outputs: guardrail_eval_dataset.csv + .json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696</Words>
  <Application>Microsoft Office PowerPoint</Application>
  <PresentationFormat>On-screen Show (16:9)</PresentationFormat>
  <Paragraphs>196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2 - Dataset Preparation for Guardrail Evaluation</dc:title>
  <dc:subject>PptxGenJS Presentation</dc:subject>
  <dc:creator>PptxGenJS</dc:creator>
  <cp:lastModifiedBy>muralidhar kondaveeti</cp:lastModifiedBy>
  <cp:revision>3</cp:revision>
  <dcterms:created xsi:type="dcterms:W3CDTF">2026-03-21T10:31:12Z</dcterms:created>
  <dcterms:modified xsi:type="dcterms:W3CDTF">2026-03-21T11:24:29Z</dcterms:modified>
</cp:coreProperties>
</file>